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1" r:id="rId6"/>
    <p:sldId id="271" r:id="rId7"/>
    <p:sldId id="282" r:id="rId8"/>
    <p:sldId id="262" r:id="rId9"/>
    <p:sldId id="263" r:id="rId10"/>
    <p:sldId id="283" r:id="rId11"/>
    <p:sldId id="265" r:id="rId12"/>
    <p:sldId id="268" r:id="rId13"/>
    <p:sldId id="270" r:id="rId14"/>
    <p:sldId id="272" r:id="rId15"/>
    <p:sldId id="273" r:id="rId16"/>
    <p:sldId id="274" r:id="rId17"/>
    <p:sldId id="275" r:id="rId18"/>
    <p:sldId id="276" r:id="rId19"/>
    <p:sldId id="278" r:id="rId20"/>
    <p:sldId id="277" r:id="rId21"/>
    <p:sldId id="279" r:id="rId22"/>
    <p:sldId id="280"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0AF16C-7379-48F3-B5A3-F635AA080CC8}" type="datetimeFigureOut">
              <a:rPr lang="en-IN" smtClean="0"/>
              <a:t>28-03-2026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498497-30F1-4F92-98DD-27C0ABC51C93}" type="slidenum">
              <a:rPr lang="en-IN" smtClean="0"/>
              <a:t>‹#›</a:t>
            </a:fld>
            <a:endParaRPr lang="en-IN"/>
          </a:p>
        </p:txBody>
      </p:sp>
    </p:spTree>
    <p:extLst>
      <p:ext uri="{BB962C8B-B14F-4D97-AF65-F5344CB8AC3E}">
        <p14:creationId xmlns:p14="http://schemas.microsoft.com/office/powerpoint/2010/main" val="94038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498497-30F1-4F92-98DD-27C0ABC51C93}" type="slidenum">
              <a:rPr lang="en-IN" smtClean="0"/>
              <a:t>9</a:t>
            </a:fld>
            <a:endParaRPr lang="en-IN"/>
          </a:p>
        </p:txBody>
      </p:sp>
    </p:spTree>
    <p:extLst>
      <p:ext uri="{BB962C8B-B14F-4D97-AF65-F5344CB8AC3E}">
        <p14:creationId xmlns:p14="http://schemas.microsoft.com/office/powerpoint/2010/main" val="2568226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B248-9B90-1E33-7B09-4A7853A026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194D72-2315-5D21-C14B-BEEB8B6489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03B6DD9-79E7-8E6D-B233-27BA3DF6803F}"/>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5" name="Footer Placeholder 4">
            <a:extLst>
              <a:ext uri="{FF2B5EF4-FFF2-40B4-BE49-F238E27FC236}">
                <a16:creationId xmlns:a16="http://schemas.microsoft.com/office/drawing/2014/main" id="{16FC3DF2-F310-250F-D6F2-72A1CE2B67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2382D1-6B37-3A5A-16D8-A4AEC866DFF0}"/>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2103147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35D13-D6D5-41D5-2C51-4E0B0FF064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E6B9AF-E03D-13F2-6EF1-F969770509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D39F3D-C682-17C7-47C3-22DD803F8B6D}"/>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5" name="Footer Placeholder 4">
            <a:extLst>
              <a:ext uri="{FF2B5EF4-FFF2-40B4-BE49-F238E27FC236}">
                <a16:creationId xmlns:a16="http://schemas.microsoft.com/office/drawing/2014/main" id="{E65FDF5C-9ECD-6784-88C3-E79E2D35F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A22BCA-81EB-DB3D-F54D-B8B4D59FD410}"/>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3374156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3687-4D7A-010A-D3DB-FEFD207DDA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35BDAEC-EBA6-19B5-99AF-FED888D946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F97B00-896F-B439-092C-643AE704DEA3}"/>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5" name="Footer Placeholder 4">
            <a:extLst>
              <a:ext uri="{FF2B5EF4-FFF2-40B4-BE49-F238E27FC236}">
                <a16:creationId xmlns:a16="http://schemas.microsoft.com/office/drawing/2014/main" id="{C6A89CD7-E904-17DB-7BA6-4F89B615B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2CB645-D13E-4614-E51C-0F81561AD618}"/>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3384472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E20EC-9825-B129-592E-AC64E821CC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B90B0F-EC99-49A2-8C58-36D4294018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2CA3E7-29C5-B35A-6594-F8D73D2A62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E2192B-986F-E237-6F78-461151E0B7C5}"/>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6" name="Footer Placeholder 5">
            <a:extLst>
              <a:ext uri="{FF2B5EF4-FFF2-40B4-BE49-F238E27FC236}">
                <a16:creationId xmlns:a16="http://schemas.microsoft.com/office/drawing/2014/main" id="{932B0561-9D2B-E471-EB22-B24CAA85FB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1A4BA0-E4AA-4C0A-927F-D673F7C98F98}"/>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2709639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D63D-1D9B-4E7F-3D74-548226EC42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A4E35D-B43C-B896-ED4F-07519325E7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4AC9AF-D96D-4DDF-01BD-B2AB20B2BAD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B7744FF-59BA-7F2A-4B6F-8AAD441CD7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DDC181-7B38-1820-4599-69471EDE0B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23AC42-158F-A32B-1580-BE613EA30CC1}"/>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8" name="Footer Placeholder 7">
            <a:extLst>
              <a:ext uri="{FF2B5EF4-FFF2-40B4-BE49-F238E27FC236}">
                <a16:creationId xmlns:a16="http://schemas.microsoft.com/office/drawing/2014/main" id="{0DA396E6-1E86-4D15-815F-9AE2C05999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342481-2D2C-E053-4252-81AD1874D814}"/>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14142161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355F-CE18-8955-EA89-C994A2C0A79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B480087-81B5-0048-B2B1-5C8F2E21C9DB}"/>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4" name="Footer Placeholder 3">
            <a:extLst>
              <a:ext uri="{FF2B5EF4-FFF2-40B4-BE49-F238E27FC236}">
                <a16:creationId xmlns:a16="http://schemas.microsoft.com/office/drawing/2014/main" id="{115FF443-71CD-326C-193B-2B5496C7B6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3F554D-7A34-8E33-6A6E-2C4484A7DED2}"/>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80000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26011A-289A-CAAF-EFFE-501FFB88E6B7}"/>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3" name="Footer Placeholder 2">
            <a:extLst>
              <a:ext uri="{FF2B5EF4-FFF2-40B4-BE49-F238E27FC236}">
                <a16:creationId xmlns:a16="http://schemas.microsoft.com/office/drawing/2014/main" id="{D443487D-5814-DE62-7050-8E0965BDD4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39F3B9-C844-5600-B33B-C17C3BAFD95F}"/>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3576431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1DD85-272A-EF74-6ED2-ED05E2E4A3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EFC26B-5AA0-2FFF-A3B2-DBFDECBB60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D2C8F8-9345-E38A-DF4A-CB70AD693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820EF2-FD74-55A3-A5C7-297EE235C8ED}"/>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6" name="Footer Placeholder 5">
            <a:extLst>
              <a:ext uri="{FF2B5EF4-FFF2-40B4-BE49-F238E27FC236}">
                <a16:creationId xmlns:a16="http://schemas.microsoft.com/office/drawing/2014/main" id="{FEFDFC99-3768-8D40-86BC-D5C210F8EF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96644A-6C87-3574-9A0E-D1547CE6E7AC}"/>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3806200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C3654-44FE-B765-BA3F-5229CFE97F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9A7A1A2-E7CA-131A-906B-4D5129490A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858CEFA-1F7C-84C7-0921-FFA81FD66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420CA5-9647-C90B-F445-0BAD7C05A491}"/>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6" name="Footer Placeholder 5">
            <a:extLst>
              <a:ext uri="{FF2B5EF4-FFF2-40B4-BE49-F238E27FC236}">
                <a16:creationId xmlns:a16="http://schemas.microsoft.com/office/drawing/2014/main" id="{FC5C92E0-AC74-C830-1215-F8919341BD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F21404-72B9-0D14-D0C3-515D3C606E8A}"/>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3140491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F179E-9818-B4A0-2D54-F4EC412B163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A8BC85-A323-DBEF-CCCF-CE7C51871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E68F43-47C8-6156-8395-A78EE640424D}"/>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5" name="Footer Placeholder 4">
            <a:extLst>
              <a:ext uri="{FF2B5EF4-FFF2-40B4-BE49-F238E27FC236}">
                <a16:creationId xmlns:a16="http://schemas.microsoft.com/office/drawing/2014/main" id="{1FF3D4D5-0A7A-24A0-9952-1272FB7288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2D05F-2CB9-D819-3FBE-3C374D2385B9}"/>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1311501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B4555D-AB57-4B48-31BE-B91E4029C2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EC15C72-1339-D8F7-8A39-63868ED05F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83DB9C-B397-3C32-708C-76F43D2C731B}"/>
              </a:ext>
            </a:extLst>
          </p:cNvPr>
          <p:cNvSpPr>
            <a:spLocks noGrp="1"/>
          </p:cNvSpPr>
          <p:nvPr>
            <p:ph type="dt" sz="half" idx="10"/>
          </p:nvPr>
        </p:nvSpPr>
        <p:spPr/>
        <p:txBody>
          <a:bodyPr/>
          <a:lstStyle/>
          <a:p>
            <a:fld id="{AFD416BD-6D3E-4A8F-8E50-6180FCC27958}" type="datetimeFigureOut">
              <a:rPr lang="en-IN" smtClean="0"/>
              <a:t>28-03-2026</a:t>
            </a:fld>
            <a:endParaRPr lang="en-IN"/>
          </a:p>
        </p:txBody>
      </p:sp>
      <p:sp>
        <p:nvSpPr>
          <p:cNvPr id="5" name="Footer Placeholder 4">
            <a:extLst>
              <a:ext uri="{FF2B5EF4-FFF2-40B4-BE49-F238E27FC236}">
                <a16:creationId xmlns:a16="http://schemas.microsoft.com/office/drawing/2014/main" id="{FE52C22A-6A36-028F-24D5-AC2E340FC9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74DF25-2461-D41B-1564-A91025E2F298}"/>
              </a:ext>
            </a:extLst>
          </p:cNvPr>
          <p:cNvSpPr>
            <a:spLocks noGrp="1"/>
          </p:cNvSpPr>
          <p:nvPr>
            <p:ph type="sldNum" sz="quarter" idx="12"/>
          </p:nvPr>
        </p:nvSpPr>
        <p:spPr/>
        <p:txBody>
          <a:bodyPr/>
          <a:lstStyle/>
          <a:p>
            <a:fld id="{DFBE5B6C-DA88-40D6-9B42-53023B53680B}" type="slidenum">
              <a:rPr lang="en-IN" smtClean="0"/>
              <a:t>‹#›</a:t>
            </a:fld>
            <a:endParaRPr lang="en-IN"/>
          </a:p>
        </p:txBody>
      </p:sp>
    </p:spTree>
    <p:extLst>
      <p:ext uri="{BB962C8B-B14F-4D97-AF65-F5344CB8AC3E}">
        <p14:creationId xmlns:p14="http://schemas.microsoft.com/office/powerpoint/2010/main" val="643029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CB2E11-8F01-F156-721F-65890EF57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E26D2A-8BFC-EE59-BC75-11D3411869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3C3119-F980-31BA-BB68-CE76440694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D416BD-6D3E-4A8F-8E50-6180FCC27958}" type="datetimeFigureOut">
              <a:rPr lang="en-IN" smtClean="0"/>
              <a:t>28-03-2026</a:t>
            </a:fld>
            <a:endParaRPr lang="en-IN"/>
          </a:p>
        </p:txBody>
      </p:sp>
      <p:sp>
        <p:nvSpPr>
          <p:cNvPr id="5" name="Footer Placeholder 4">
            <a:extLst>
              <a:ext uri="{FF2B5EF4-FFF2-40B4-BE49-F238E27FC236}">
                <a16:creationId xmlns:a16="http://schemas.microsoft.com/office/drawing/2014/main" id="{1B759C98-C2E4-0C2D-8F2F-E3BF05B80B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7B10A57-B2EC-1FD3-ADD3-3C1898F110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BE5B6C-DA88-40D6-9B42-53023B53680B}" type="slidenum">
              <a:rPr lang="en-IN" smtClean="0"/>
              <a:t>‹#›</a:t>
            </a:fld>
            <a:endParaRPr lang="en-IN"/>
          </a:p>
        </p:txBody>
      </p:sp>
    </p:spTree>
    <p:extLst>
      <p:ext uri="{BB962C8B-B14F-4D97-AF65-F5344CB8AC3E}">
        <p14:creationId xmlns:p14="http://schemas.microsoft.com/office/powerpoint/2010/main" val="1126094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Professional Chapters - CMRTC">
            <a:extLst>
              <a:ext uri="{FF2B5EF4-FFF2-40B4-BE49-F238E27FC236}">
                <a16:creationId xmlns:a16="http://schemas.microsoft.com/office/drawing/2014/main" id="{812C6A09-984F-DDE2-A373-DDDACCEDA3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54254B23-BF13-FBFB-AAED-B9E03A73F14D}"/>
              </a:ext>
            </a:extLst>
          </p:cNvPr>
          <p:cNvPicPr>
            <a:picLocks noChangeAspect="1"/>
          </p:cNvPicPr>
          <p:nvPr/>
        </p:nvPicPr>
        <p:blipFill>
          <a:blip r:embed="rId2"/>
          <a:stretch>
            <a:fillRect/>
          </a:stretch>
        </p:blipFill>
        <p:spPr>
          <a:xfrm>
            <a:off x="752475" y="457880"/>
            <a:ext cx="10687050" cy="1000125"/>
          </a:xfrm>
          <a:prstGeom prst="rect">
            <a:avLst/>
          </a:prstGeom>
        </p:spPr>
      </p:pic>
      <p:sp>
        <p:nvSpPr>
          <p:cNvPr id="7" name="TextBox 6">
            <a:extLst>
              <a:ext uri="{FF2B5EF4-FFF2-40B4-BE49-F238E27FC236}">
                <a16:creationId xmlns:a16="http://schemas.microsoft.com/office/drawing/2014/main" id="{21FC8AB9-2C0C-EDC7-E767-623A92A07DE7}"/>
              </a:ext>
            </a:extLst>
          </p:cNvPr>
          <p:cNvSpPr txBox="1"/>
          <p:nvPr/>
        </p:nvSpPr>
        <p:spPr>
          <a:xfrm>
            <a:off x="2117272" y="1884087"/>
            <a:ext cx="7957456" cy="2616101"/>
          </a:xfrm>
          <a:prstGeom prst="rect">
            <a:avLst/>
          </a:prstGeom>
          <a:noFill/>
        </p:spPr>
        <p:txBody>
          <a:bodyPr wrap="square">
            <a:spAutoFit/>
          </a:bodyPr>
          <a:lstStyle/>
          <a:p>
            <a:pPr algn="ctr">
              <a:lnSpc>
                <a:spcPct val="150000"/>
              </a:lnSpc>
              <a:defRPr/>
            </a:pPr>
            <a:r>
              <a:rPr lang="en-IN" sz="2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Department of Computer Science &amp; Engineering</a:t>
            </a:r>
          </a:p>
          <a:p>
            <a:pPr algn="ctr">
              <a:lnSpc>
                <a:spcPct val="150000"/>
              </a:lnSpc>
              <a:defRPr/>
            </a:pPr>
            <a:r>
              <a:rPr lang="en-IN" b="1" dirty="0">
                <a:ln w="0"/>
                <a:solidFill>
                  <a:schemeClr val="accent1">
                    <a:lumMod val="75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 REAL TIME RESEARCH PROJECT</a:t>
            </a:r>
          </a:p>
          <a:p>
            <a:pPr algn="ctr">
              <a:lnSpc>
                <a:spcPct val="150000"/>
              </a:lnSpc>
              <a:defRPr/>
            </a:pPr>
            <a:r>
              <a:rPr lang="en-IN" b="1" dirty="0">
                <a:ln w="0"/>
                <a:solidFill>
                  <a:schemeClr val="accent1">
                    <a:lumMod val="75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ON</a:t>
            </a:r>
          </a:p>
          <a:p>
            <a:pPr algn="ctr">
              <a:lnSpc>
                <a:spcPct val="150000"/>
              </a:lnSpc>
              <a:defRPr/>
            </a:pPr>
            <a:r>
              <a:rPr lang="en-IN" sz="2000" b="1" dirty="0">
                <a:ln w="0"/>
                <a:solidFill>
                  <a:schemeClr val="accent1">
                    <a:lumMod val="75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AUTOMATED CONTROL SYSTEM FOR AIR POLLUTION DETECTION IN VEHICLES</a:t>
            </a:r>
          </a:p>
          <a:p>
            <a:pPr algn="ctr">
              <a:defRPr/>
            </a:pPr>
            <a:endParaRPr lang="en-IN" sz="2000" b="1" dirty="0">
              <a:ln w="0"/>
              <a:effectLst>
                <a:outerShdw blurRad="38100" dist="19050" dir="2700000" algn="tl" rotWithShape="0">
                  <a:schemeClr val="dk1">
                    <a:alpha val="40000"/>
                  </a:schemeClr>
                </a:outerShdw>
              </a:effectLst>
            </a:endParaRPr>
          </a:p>
        </p:txBody>
      </p:sp>
      <p:sp>
        <p:nvSpPr>
          <p:cNvPr id="8" name="TextBox 7">
            <a:extLst>
              <a:ext uri="{FF2B5EF4-FFF2-40B4-BE49-F238E27FC236}">
                <a16:creationId xmlns:a16="http://schemas.microsoft.com/office/drawing/2014/main" id="{A93872C2-B5F8-B788-0213-D93FCF662DC6}"/>
              </a:ext>
            </a:extLst>
          </p:cNvPr>
          <p:cNvSpPr txBox="1"/>
          <p:nvPr/>
        </p:nvSpPr>
        <p:spPr>
          <a:xfrm>
            <a:off x="7406369" y="4621470"/>
            <a:ext cx="4557031" cy="1295868"/>
          </a:xfrm>
          <a:prstGeom prst="rect">
            <a:avLst/>
          </a:prstGeom>
          <a:noFill/>
        </p:spPr>
        <p:txBody>
          <a:bodyPr wrap="square" rtlCol="0">
            <a:spAutoFit/>
          </a:bodyPr>
          <a:lstStyle/>
          <a:p>
            <a:pPr algn="ctr">
              <a:lnSpc>
                <a:spcPct val="150000"/>
              </a:lnSpc>
            </a:pPr>
            <a:r>
              <a:rPr lang="en-US" b="1" dirty="0"/>
              <a:t>PRESENTED BY</a:t>
            </a:r>
          </a:p>
          <a:p>
            <a:pPr>
              <a:lnSpc>
                <a:spcPct val="150000"/>
              </a:lnSpc>
            </a:pPr>
            <a:r>
              <a:rPr lang="en-US" b="1" dirty="0"/>
              <a:t>   K.AKANKSHA                       (247R1A05V1)</a:t>
            </a:r>
          </a:p>
          <a:p>
            <a:pPr>
              <a:lnSpc>
                <a:spcPct val="150000"/>
              </a:lnSpc>
            </a:pPr>
            <a:r>
              <a:rPr lang="en-US" b="1" dirty="0"/>
              <a:t>   K.KARTHIK                             (257R5A0531)</a:t>
            </a:r>
            <a:endParaRPr lang="en-IN" b="1" dirty="0"/>
          </a:p>
        </p:txBody>
      </p:sp>
      <p:sp>
        <p:nvSpPr>
          <p:cNvPr id="9" name="TextBox 8">
            <a:extLst>
              <a:ext uri="{FF2B5EF4-FFF2-40B4-BE49-F238E27FC236}">
                <a16:creationId xmlns:a16="http://schemas.microsoft.com/office/drawing/2014/main" id="{15F455B0-BAF5-4E5A-33C5-3E5954870FDD}"/>
              </a:ext>
            </a:extLst>
          </p:cNvPr>
          <p:cNvSpPr txBox="1"/>
          <p:nvPr/>
        </p:nvSpPr>
        <p:spPr>
          <a:xfrm>
            <a:off x="539289" y="4926270"/>
            <a:ext cx="2634343" cy="1477328"/>
          </a:xfrm>
          <a:prstGeom prst="rect">
            <a:avLst/>
          </a:prstGeom>
          <a:noFill/>
        </p:spPr>
        <p:txBody>
          <a:bodyPr wrap="square" rtlCol="0">
            <a:spAutoFit/>
          </a:bodyPr>
          <a:lstStyle/>
          <a:p>
            <a:pPr algn="ctr">
              <a:lnSpc>
                <a:spcPct val="150000"/>
              </a:lnSpc>
            </a:pPr>
            <a:r>
              <a:rPr lang="en-US" b="1" dirty="0"/>
              <a:t>UNDER THE GUIDENCE</a:t>
            </a:r>
          </a:p>
          <a:p>
            <a:pPr>
              <a:lnSpc>
                <a:spcPct val="150000"/>
              </a:lnSpc>
            </a:pPr>
            <a:r>
              <a:rPr lang="en-US" b="1" dirty="0"/>
              <a:t>Mrs. B. Pooja</a:t>
            </a:r>
          </a:p>
          <a:p>
            <a:r>
              <a:rPr lang="en-IN" b="1" dirty="0"/>
              <a:t>ASSISTANT PROFESSOR</a:t>
            </a:r>
          </a:p>
          <a:p>
            <a:endParaRPr lang="en-IN" dirty="0"/>
          </a:p>
        </p:txBody>
      </p:sp>
      <p:sp>
        <p:nvSpPr>
          <p:cNvPr id="10" name="TextBox 9">
            <a:extLst>
              <a:ext uri="{FF2B5EF4-FFF2-40B4-BE49-F238E27FC236}">
                <a16:creationId xmlns:a16="http://schemas.microsoft.com/office/drawing/2014/main" id="{29F552ED-CC88-166A-705C-FB07DFF54CA2}"/>
              </a:ext>
            </a:extLst>
          </p:cNvPr>
          <p:cNvSpPr txBox="1"/>
          <p:nvPr/>
        </p:nvSpPr>
        <p:spPr>
          <a:xfrm>
            <a:off x="4147457" y="6030788"/>
            <a:ext cx="2394857" cy="369332"/>
          </a:xfrm>
          <a:prstGeom prst="rect">
            <a:avLst/>
          </a:prstGeom>
          <a:noFill/>
        </p:spPr>
        <p:txBody>
          <a:bodyPr wrap="square" rtlCol="0">
            <a:spAutoFit/>
          </a:bodyPr>
          <a:lstStyle/>
          <a:p>
            <a:r>
              <a:rPr lang="en-US" b="1" dirty="0"/>
              <a:t>BATCH NO: E-10</a:t>
            </a:r>
            <a:endParaRPr lang="en-IN" b="1" dirty="0"/>
          </a:p>
        </p:txBody>
      </p:sp>
    </p:spTree>
    <p:extLst>
      <p:ext uri="{BB962C8B-B14F-4D97-AF65-F5344CB8AC3E}">
        <p14:creationId xmlns:p14="http://schemas.microsoft.com/office/powerpoint/2010/main" val="3415222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731F5B-62BB-CC66-2488-F63B1ECA7E7B}"/>
              </a:ext>
            </a:extLst>
          </p:cNvPr>
          <p:cNvSpPr txBox="1"/>
          <p:nvPr/>
        </p:nvSpPr>
        <p:spPr>
          <a:xfrm>
            <a:off x="2918460" y="129323"/>
            <a:ext cx="5334000" cy="830997"/>
          </a:xfrm>
          <a:prstGeom prst="rect">
            <a:avLst/>
          </a:prstGeom>
          <a:noFill/>
        </p:spPr>
        <p:txBody>
          <a:bodyPr wrap="square" rtlCol="0">
            <a:spAutoFit/>
          </a:bodyPr>
          <a:lstStyle/>
          <a:p>
            <a:pPr algn="ctr"/>
            <a:r>
              <a:rPr lang="en-US" sz="3000" b="1" dirty="0">
                <a:latin typeface="Times New Roman" panose="02020603050405020304" pitchFamily="18" charset="0"/>
                <a:cs typeface="Times New Roman" panose="02020603050405020304" pitchFamily="18" charset="0"/>
              </a:rPr>
              <a:t>TABLE OF CONTENTS</a:t>
            </a:r>
          </a:p>
          <a:p>
            <a:endParaRPr lang="en-IN" dirty="0"/>
          </a:p>
        </p:txBody>
      </p:sp>
      <p:sp>
        <p:nvSpPr>
          <p:cNvPr id="5" name="TextBox 4">
            <a:extLst>
              <a:ext uri="{FF2B5EF4-FFF2-40B4-BE49-F238E27FC236}">
                <a16:creationId xmlns:a16="http://schemas.microsoft.com/office/drawing/2014/main" id="{DCB4B533-6932-DAA1-71A0-361F88208807}"/>
              </a:ext>
            </a:extLst>
          </p:cNvPr>
          <p:cNvSpPr txBox="1"/>
          <p:nvPr/>
        </p:nvSpPr>
        <p:spPr>
          <a:xfrm>
            <a:off x="1438656" y="1382051"/>
            <a:ext cx="4450080" cy="493981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ABSTRACT</a:t>
            </a:r>
          </a:p>
          <a:p>
            <a:pPr marL="285750" indent="-285750">
              <a:lnSpc>
                <a:spcPct val="150000"/>
              </a:lnSpc>
              <a:buFont typeface="Arial" panose="020B0604020202020204" pitchFamily="34" charset="0"/>
              <a:buChar char="•"/>
            </a:pPr>
            <a:r>
              <a:rPr lang="en-US" sz="2000" dirty="0"/>
              <a:t>INTRODUCTION</a:t>
            </a:r>
          </a:p>
          <a:p>
            <a:pPr marL="285750" indent="-285750">
              <a:lnSpc>
                <a:spcPct val="150000"/>
              </a:lnSpc>
              <a:buFont typeface="Arial" panose="020B0604020202020204" pitchFamily="34" charset="0"/>
              <a:buChar char="•"/>
            </a:pPr>
            <a:r>
              <a:rPr lang="en-IN" sz="2000" dirty="0"/>
              <a:t>EXSISTING SYSTEM</a:t>
            </a:r>
          </a:p>
          <a:p>
            <a:pPr marL="285750" indent="-285750">
              <a:lnSpc>
                <a:spcPct val="150000"/>
              </a:lnSpc>
              <a:buFont typeface="Arial" panose="020B0604020202020204" pitchFamily="34" charset="0"/>
              <a:buChar char="•"/>
            </a:pPr>
            <a:r>
              <a:rPr lang="en-IN" sz="2000" dirty="0"/>
              <a:t>LIMITAIONS OF EXIXTING SYSTEM</a:t>
            </a:r>
          </a:p>
          <a:p>
            <a:pPr marL="285750" indent="-285750">
              <a:lnSpc>
                <a:spcPct val="150000"/>
              </a:lnSpc>
              <a:buFont typeface="Arial" panose="020B0604020202020204" pitchFamily="34" charset="0"/>
              <a:buChar char="•"/>
            </a:pPr>
            <a:r>
              <a:rPr lang="en-IN" sz="2000" dirty="0"/>
              <a:t>DISADVANTAGES</a:t>
            </a:r>
          </a:p>
          <a:p>
            <a:pPr marL="285750" indent="-285750">
              <a:lnSpc>
                <a:spcPct val="150000"/>
              </a:lnSpc>
              <a:buFont typeface="Arial" panose="020B0604020202020204" pitchFamily="34" charset="0"/>
              <a:buChar char="•"/>
            </a:pPr>
            <a:r>
              <a:rPr lang="en-IN" sz="2000" dirty="0"/>
              <a:t>PROPOSER SYSTEM</a:t>
            </a:r>
          </a:p>
          <a:p>
            <a:pPr marL="285750" indent="-285750">
              <a:lnSpc>
                <a:spcPct val="150000"/>
              </a:lnSpc>
              <a:buFont typeface="Arial" panose="020B0604020202020204" pitchFamily="34" charset="0"/>
              <a:buChar char="•"/>
            </a:pPr>
            <a:r>
              <a:rPr lang="en-IN" sz="2000" dirty="0"/>
              <a:t>ADVANTAGES</a:t>
            </a:r>
          </a:p>
          <a:p>
            <a:pPr marL="285750" indent="-285750">
              <a:lnSpc>
                <a:spcPct val="150000"/>
              </a:lnSpc>
              <a:buFont typeface="Arial" panose="020B0604020202020204" pitchFamily="34" charset="0"/>
              <a:buChar char="•"/>
            </a:pPr>
            <a:r>
              <a:rPr lang="en-IN" sz="2000" dirty="0"/>
              <a:t>SOFTWARE REQUIRMENTS</a:t>
            </a:r>
          </a:p>
          <a:p>
            <a:pPr marL="285750" indent="-285750">
              <a:lnSpc>
                <a:spcPct val="150000"/>
              </a:lnSpc>
              <a:buFont typeface="Arial" panose="020B0604020202020204" pitchFamily="34" charset="0"/>
              <a:buChar char="•"/>
            </a:pPr>
            <a:r>
              <a:rPr lang="en-IN" sz="2000" dirty="0"/>
              <a:t>HARDWARE REQUIREMENTS</a:t>
            </a:r>
          </a:p>
          <a:p>
            <a:pPr>
              <a:lnSpc>
                <a:spcPct val="150000"/>
              </a:lnSpc>
            </a:pPr>
            <a:endParaRPr lang="en-IN" dirty="0"/>
          </a:p>
          <a:p>
            <a:endParaRPr lang="en-IN" dirty="0"/>
          </a:p>
        </p:txBody>
      </p:sp>
      <p:sp>
        <p:nvSpPr>
          <p:cNvPr id="2" name="TextBox 1">
            <a:extLst>
              <a:ext uri="{FF2B5EF4-FFF2-40B4-BE49-F238E27FC236}">
                <a16:creationId xmlns:a16="http://schemas.microsoft.com/office/drawing/2014/main" id="{221CFCE4-143C-F1EB-D945-8BD23C6B38F6}"/>
              </a:ext>
            </a:extLst>
          </p:cNvPr>
          <p:cNvSpPr txBox="1"/>
          <p:nvPr/>
        </p:nvSpPr>
        <p:spPr>
          <a:xfrm>
            <a:off x="6611112" y="1335885"/>
            <a:ext cx="4242816" cy="45243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dirty="0"/>
              <a:t>NOVELTY OF THE PROJECT</a:t>
            </a:r>
          </a:p>
          <a:p>
            <a:pPr marL="285750" indent="-285750">
              <a:lnSpc>
                <a:spcPct val="150000"/>
              </a:lnSpc>
              <a:buFont typeface="Arial" panose="020B0604020202020204" pitchFamily="34" charset="0"/>
              <a:buChar char="•"/>
            </a:pPr>
            <a:r>
              <a:rPr lang="en-IN" sz="2000" dirty="0"/>
              <a:t>ARCHITECTURE</a:t>
            </a:r>
          </a:p>
          <a:p>
            <a:pPr marL="285750" indent="-285750">
              <a:lnSpc>
                <a:spcPct val="150000"/>
              </a:lnSpc>
              <a:buFont typeface="Arial" panose="020B0604020202020204" pitchFamily="34" charset="0"/>
              <a:buChar char="•"/>
            </a:pPr>
            <a:r>
              <a:rPr lang="en-IN" sz="2000" dirty="0"/>
              <a:t>MODULES</a:t>
            </a:r>
          </a:p>
          <a:p>
            <a:pPr marL="285750" indent="-285750">
              <a:lnSpc>
                <a:spcPct val="150000"/>
              </a:lnSpc>
              <a:buFont typeface="Arial" panose="020B0604020202020204" pitchFamily="34" charset="0"/>
              <a:buChar char="•"/>
            </a:pPr>
            <a:r>
              <a:rPr lang="en-IN" sz="2000" dirty="0"/>
              <a:t>UML DIAGRAMS</a:t>
            </a:r>
          </a:p>
          <a:p>
            <a:pPr marL="285750" indent="-285750">
              <a:lnSpc>
                <a:spcPct val="150000"/>
              </a:lnSpc>
              <a:buFont typeface="Arial" panose="020B0604020202020204" pitchFamily="34" charset="0"/>
              <a:buChar char="•"/>
            </a:pPr>
            <a:r>
              <a:rPr lang="en-IN" sz="2000" dirty="0"/>
              <a:t>RESULT</a:t>
            </a:r>
          </a:p>
          <a:p>
            <a:pPr marL="285750" indent="-285750">
              <a:lnSpc>
                <a:spcPct val="150000"/>
              </a:lnSpc>
              <a:buFont typeface="Arial" panose="020B0604020202020204" pitchFamily="34" charset="0"/>
              <a:buChar char="•"/>
            </a:pPr>
            <a:r>
              <a:rPr lang="en-IN" sz="2000" dirty="0"/>
              <a:t>CONCLUSION</a:t>
            </a:r>
          </a:p>
          <a:p>
            <a:pPr marL="285750" indent="-285750">
              <a:lnSpc>
                <a:spcPct val="150000"/>
              </a:lnSpc>
              <a:buFont typeface="Arial" panose="020B0604020202020204" pitchFamily="34" charset="0"/>
              <a:buChar char="•"/>
            </a:pPr>
            <a:r>
              <a:rPr lang="en-IN" sz="2000" dirty="0"/>
              <a:t>FUTURE ENHANCEMENT</a:t>
            </a:r>
          </a:p>
          <a:p>
            <a:pPr marL="285750" indent="-285750">
              <a:lnSpc>
                <a:spcPct val="150000"/>
              </a:lnSpc>
              <a:buFont typeface="Arial" panose="020B0604020202020204" pitchFamily="34" charset="0"/>
              <a:buChar char="•"/>
            </a:pPr>
            <a:r>
              <a:rPr lang="en-IN" sz="2000" dirty="0"/>
              <a:t>REFERENCE</a:t>
            </a:r>
          </a:p>
          <a:p>
            <a:pPr marL="285750" indent="-285750">
              <a:lnSpc>
                <a:spcPct val="150000"/>
              </a:lnSpc>
              <a:buFont typeface="Arial" panose="020B0604020202020204" pitchFamily="34" charset="0"/>
              <a:buChar char="•"/>
            </a:pPr>
            <a:r>
              <a:rPr lang="en-IN" sz="2000" dirty="0"/>
              <a:t>GITHUD</a:t>
            </a:r>
          </a:p>
          <a:p>
            <a:endParaRPr lang="en-IN" dirty="0"/>
          </a:p>
        </p:txBody>
      </p:sp>
    </p:spTree>
    <p:extLst>
      <p:ext uri="{BB962C8B-B14F-4D97-AF65-F5344CB8AC3E}">
        <p14:creationId xmlns:p14="http://schemas.microsoft.com/office/powerpoint/2010/main" val="1506416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A992EA-DD9B-104A-0620-949AC301789C}"/>
              </a:ext>
            </a:extLst>
          </p:cNvPr>
          <p:cNvSpPr txBox="1"/>
          <p:nvPr/>
        </p:nvSpPr>
        <p:spPr>
          <a:xfrm>
            <a:off x="730649" y="400222"/>
            <a:ext cx="11059886" cy="6057556"/>
          </a:xfrm>
          <a:prstGeom prst="rect">
            <a:avLst/>
          </a:prstGeom>
          <a:noFill/>
        </p:spPr>
        <p:txBody>
          <a:bodyPr wrap="square">
            <a:spAutoFit/>
          </a:bodyPr>
          <a:lstStyle/>
          <a:p>
            <a:pPr algn="ctr">
              <a:lnSpc>
                <a:spcPct val="200000"/>
              </a:lnSpc>
              <a:spcAft>
                <a:spcPts val="800"/>
              </a:spcAft>
              <a:buNone/>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ABSTRACT</a:t>
            </a:r>
            <a:endParaRPr lang="en-US" sz="2800" b="1"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2400" dirty="0"/>
              <a:t>  Air pollution from vehicles is a big problem that affects the environment and human health. Harmful gases like carbon monoxide (CO), carbon dioxide (CO₂), and other pollutants are released from vehicle exhausts. These gases increase air pollution and can cause serious health issues.</a:t>
            </a:r>
          </a:p>
          <a:p>
            <a:pPr algn="just">
              <a:lnSpc>
                <a:spcPct val="150000"/>
              </a:lnSpc>
            </a:pPr>
            <a:r>
              <a:rPr lang="en-US" sz="2400" dirty="0"/>
              <a:t>  The Automated Control System for Air Pollution Detection in Vehicles is designed to monitor the pollution produced by vehicles. The system uses gas sensors to detect harmful gases from the vehicle exhaust. The sensor sends the information to a microcontroller that checks whether the pollution level is within the allowed limit.</a:t>
            </a:r>
          </a:p>
          <a:p>
            <a:pPr algn="ctr">
              <a:lnSpc>
                <a:spcPct val="150000"/>
              </a:lnSpc>
              <a:spcAft>
                <a:spcPts val="800"/>
              </a:spcAft>
              <a:buNone/>
            </a:pPr>
            <a:endPar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67002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346C0E7-C7F7-1B5E-E491-03455A665146}"/>
              </a:ext>
            </a:extLst>
          </p:cNvPr>
          <p:cNvSpPr txBox="1"/>
          <p:nvPr/>
        </p:nvSpPr>
        <p:spPr>
          <a:xfrm>
            <a:off x="535682" y="872306"/>
            <a:ext cx="11120635" cy="5113387"/>
          </a:xfrm>
          <a:prstGeom prst="rect">
            <a:avLst/>
          </a:prstGeom>
          <a:noFill/>
        </p:spPr>
        <p:txBody>
          <a:bodyPr wrap="square">
            <a:spAutoFit/>
          </a:bodyPr>
          <a:lstStyle/>
          <a:p>
            <a:pPr algn="ctr">
              <a:lnSpc>
                <a:spcPct val="150000"/>
              </a:lnSpc>
            </a:pPr>
            <a:r>
              <a:rPr lang="en-US" sz="2800" b="1" kern="100" dirty="0">
                <a:latin typeface="Times New Roman" panose="02020603050405020304" pitchFamily="18" charset="0"/>
                <a:ea typeface="Calibri" panose="020F0502020204030204" pitchFamily="34" charset="0"/>
                <a:cs typeface="Times New Roman" panose="02020603050405020304" pitchFamily="18" charset="0"/>
              </a:rPr>
              <a:t>INTRODUCTION</a:t>
            </a:r>
            <a:endParaRPr lang="en-US" sz="2800" dirty="0"/>
          </a:p>
          <a:p>
            <a:pPr algn="just">
              <a:lnSpc>
                <a:spcPct val="150000"/>
              </a:lnSpc>
            </a:pPr>
            <a:r>
              <a:rPr lang="en-US" sz="2400" dirty="0"/>
              <a:t>Air pollution is a serious problem caused mainly by harmful gases released from vehicles. These gases can affect human health and damage the environment. Usually, vehicles are tested for pollution only at testing centers, which may not show the actual pollution produced during daily use. To solve this problem, an Automated Pollution Control System is used. It uses gas sensors to detect harmful gases from vehicle exhaust and sends the data to a controller. The controller checks the pollution level and gives a warning if it exceeds the allowed limit. This system helps in continuous monitoring and reducing air pollution. </a:t>
            </a:r>
            <a:endParaRPr lang="en-IN" sz="2400" dirty="0"/>
          </a:p>
        </p:txBody>
      </p:sp>
    </p:spTree>
    <p:extLst>
      <p:ext uri="{BB962C8B-B14F-4D97-AF65-F5344CB8AC3E}">
        <p14:creationId xmlns:p14="http://schemas.microsoft.com/office/powerpoint/2010/main" val="2290577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9DC247A-666C-CF50-557D-54389B63C916}"/>
              </a:ext>
            </a:extLst>
          </p:cNvPr>
          <p:cNvSpPr txBox="1"/>
          <p:nvPr/>
        </p:nvSpPr>
        <p:spPr>
          <a:xfrm>
            <a:off x="636814" y="441153"/>
            <a:ext cx="10918372" cy="4875502"/>
          </a:xfrm>
          <a:prstGeom prst="rect">
            <a:avLst/>
          </a:prstGeom>
          <a:noFill/>
        </p:spPr>
        <p:txBody>
          <a:bodyPr wrap="square">
            <a:spAutoFit/>
          </a:bodyPr>
          <a:lstStyle/>
          <a:p>
            <a:pPr algn="ctr">
              <a:lnSpc>
                <a:spcPct val="200000"/>
              </a:lnSpc>
              <a:spcAft>
                <a:spcPts val="800"/>
              </a:spcAft>
              <a:buNone/>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EXISTING SYSTEM</a:t>
            </a:r>
            <a:endParaRPr lang="en-US" sz="2800" kern="100" dirty="0">
              <a:effectLst/>
              <a:latin typeface="Calibri" panose="020F0502020204030204" pitchFamily="34" charset="0"/>
              <a:cs typeface="Times New Roman" panose="02020603050405020304" pitchFamily="18" charset="0"/>
            </a:endParaRPr>
          </a:p>
          <a:p>
            <a:pPr algn="just">
              <a:lnSpc>
                <a:spcPct val="150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Traditional vehicle emission checks rely on periodic manual inspections at service stations or regulatory testing centers, using portable analyzers that sample exhaust gases sporadically. These methods suffer from low frequency, human error, and inability to capture real-time variations during actual driving conditions, often allowing high-polluting vehicles to operate unchecked between tests. Compliance depends on driver initiative, with limited integration into vehicle electronics or broader traffic management systems.​</a:t>
            </a:r>
            <a:endParaRPr lang="en-US" sz="2400" kern="100" dirty="0">
              <a:effectLst/>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67671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7C5C9E-4B30-1C1C-5A15-AB6836978013}"/>
              </a:ext>
            </a:extLst>
          </p:cNvPr>
          <p:cNvSpPr txBox="1"/>
          <p:nvPr/>
        </p:nvSpPr>
        <p:spPr>
          <a:xfrm>
            <a:off x="2158962" y="799987"/>
            <a:ext cx="7874074"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LIMITATIONS OF EXISITING SYSTEM</a:t>
            </a:r>
            <a:endParaRPr lang="en-IN" sz="28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D6CBE5F8-DA08-10CF-458D-86D4C20085FC}"/>
              </a:ext>
            </a:extLst>
          </p:cNvPr>
          <p:cNvSpPr>
            <a:spLocks noChangeArrowheads="1"/>
          </p:cNvSpPr>
          <p:nvPr/>
        </p:nvSpPr>
        <p:spPr bwMode="auto">
          <a:xfrm>
            <a:off x="3917831" y="1838792"/>
            <a:ext cx="4356337" cy="2802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Occasional Testing</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Inaccurate Results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Manual Monitoring</a:t>
            </a:r>
            <a:r>
              <a:rPr kumimoji="0" lang="en-US" altLang="en-US" sz="24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No Instant Alerts</a:t>
            </a:r>
            <a:r>
              <a:rPr kumimoji="0" lang="en-US" altLang="en-US" sz="24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Increased Air Pollution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873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38D65E-91E0-5FD3-4B60-B306F0840FF7}"/>
              </a:ext>
            </a:extLst>
          </p:cNvPr>
          <p:cNvSpPr txBox="1"/>
          <p:nvPr/>
        </p:nvSpPr>
        <p:spPr>
          <a:xfrm>
            <a:off x="3769614" y="1272320"/>
            <a:ext cx="6094476" cy="390395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b="1">
                <a:latin typeface="Times New Roman" panose="02020603050405020304" pitchFamily="18" charset="0"/>
                <a:cs typeface="Times New Roman" panose="02020603050405020304" pitchFamily="18" charset="0"/>
              </a:rPr>
              <a:t>Sensor </a:t>
            </a:r>
            <a:r>
              <a:rPr lang="en-IN" sz="2400" b="1" dirty="0">
                <a:latin typeface="Times New Roman" panose="02020603050405020304" pitchFamily="18" charset="0"/>
                <a:cs typeface="Times New Roman" panose="02020603050405020304" pitchFamily="18" charset="0"/>
              </a:rPr>
              <a:t>Accuracy Issues</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Maintenance Required</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Power Consumption</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Limited Gas Detection Range</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Dependence on Proper Installation</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False Alerts</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System Failure Risk</a:t>
            </a:r>
          </a:p>
        </p:txBody>
      </p:sp>
      <p:sp>
        <p:nvSpPr>
          <p:cNvPr id="6" name="TextBox 5">
            <a:extLst>
              <a:ext uri="{FF2B5EF4-FFF2-40B4-BE49-F238E27FC236}">
                <a16:creationId xmlns:a16="http://schemas.microsoft.com/office/drawing/2014/main" id="{D875852E-C260-5F01-7243-82A815BAF734}"/>
              </a:ext>
            </a:extLst>
          </p:cNvPr>
          <p:cNvSpPr txBox="1"/>
          <p:nvPr/>
        </p:nvSpPr>
        <p:spPr>
          <a:xfrm>
            <a:off x="2404872" y="512064"/>
            <a:ext cx="5769864"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DISADVANTAGES</a:t>
            </a:r>
            <a:endParaRPr lang="en-IN" b="1" dirty="0"/>
          </a:p>
        </p:txBody>
      </p:sp>
    </p:spTree>
    <p:extLst>
      <p:ext uri="{BB962C8B-B14F-4D97-AF65-F5344CB8AC3E}">
        <p14:creationId xmlns:p14="http://schemas.microsoft.com/office/powerpoint/2010/main" val="3827202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8834DD-7742-2E80-E4C8-0896E2A501BF}"/>
              </a:ext>
            </a:extLst>
          </p:cNvPr>
          <p:cNvSpPr txBox="1"/>
          <p:nvPr/>
        </p:nvSpPr>
        <p:spPr>
          <a:xfrm>
            <a:off x="713014" y="752437"/>
            <a:ext cx="10765971" cy="4660058"/>
          </a:xfrm>
          <a:prstGeom prst="rect">
            <a:avLst/>
          </a:prstGeom>
          <a:noFill/>
        </p:spPr>
        <p:txBody>
          <a:bodyPr wrap="square">
            <a:spAutoFit/>
          </a:bodyPr>
          <a:lstStyle/>
          <a:p>
            <a:pPr algn="ctr">
              <a:lnSpc>
                <a:spcPct val="150000"/>
              </a:lnSpc>
              <a:spcAft>
                <a:spcPts val="800"/>
              </a:spcAft>
              <a:buNone/>
            </a:pPr>
            <a:r>
              <a:rPr lang="en-US" sz="2800" b="1" kern="100" dirty="0">
                <a:effectLst/>
                <a:latin typeface="Times New Roman" panose="02020603050405020304" pitchFamily="18" charset="0"/>
                <a:ea typeface="Calibri" panose="020F0502020204030204" pitchFamily="34" charset="0"/>
                <a:cs typeface="Times New Roman" panose="02020603050405020304" pitchFamily="18" charset="0"/>
              </a:rPr>
              <a:t>PROPOSED SYSTEM</a:t>
            </a:r>
            <a:endParaRPr lang="en-US" sz="2800" kern="100" dirty="0">
              <a:effectLst/>
              <a:latin typeface="Times New Roman" panose="02020603050405020304" pitchFamily="18" charset="0"/>
              <a:cs typeface="Times New Roman" panose="02020603050405020304" pitchFamily="18" charset="0"/>
            </a:endParaRPr>
          </a:p>
          <a:p>
            <a:pPr algn="just">
              <a:lnSpc>
                <a:spcPct val="150000"/>
              </a:lnSpc>
              <a:spcAft>
                <a:spcPts val="800"/>
              </a:spcAft>
              <a:buNone/>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The proposed system introduces continuous, on-board air quality sensors interfaced with a microcontroller for automated detection and control of emissions directly from vehicles. It features real-time data logging, threshold-based engine control (e.g., reducing fuel injection if pollution exceeds limits), and IoT connectivity for cloud-based analytics, geofencing alerts, and integration with smart city infrastructure. This enhances accuracy, enables predictive maintenance, and supports fleet-wide emission tracking for authorities</a:t>
            </a:r>
            <a:endParaRPr lang="en-US" sz="2400" kern="100" dirty="0">
              <a:effectLst/>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60498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4F5755B8-4DF1-A9FE-BD05-9C6F34E9E36B}"/>
              </a:ext>
            </a:extLst>
          </p:cNvPr>
          <p:cNvSpPr>
            <a:spLocks noChangeArrowheads="1"/>
          </p:cNvSpPr>
          <p:nvPr/>
        </p:nvSpPr>
        <p:spPr bwMode="auto">
          <a:xfrm rot="10800000" flipV="1">
            <a:off x="3205316" y="686956"/>
            <a:ext cx="4357445" cy="66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tabLst/>
            </a:pPr>
            <a:r>
              <a:rPr lang="en-US" altLang="en-US" sz="2800" b="1" dirty="0">
                <a:latin typeface="Times New Roman" panose="02020603050405020304" pitchFamily="18" charset="0"/>
                <a:cs typeface="Times New Roman" panose="02020603050405020304" pitchFamily="18" charset="0"/>
              </a:rPr>
              <a:t>ADVANTAGES</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5BDBE60-EBF6-38D8-3D4B-74C6C1BEEC73}"/>
              </a:ext>
            </a:extLst>
          </p:cNvPr>
          <p:cNvSpPr txBox="1"/>
          <p:nvPr/>
        </p:nvSpPr>
        <p:spPr>
          <a:xfrm>
            <a:off x="3927397" y="1536368"/>
            <a:ext cx="4198374" cy="2802627"/>
          </a:xfrm>
          <a:prstGeom prst="rect">
            <a:avLst/>
          </a:prstGeom>
          <a:noFill/>
        </p:spPr>
        <p:txBody>
          <a:bodyPr wrap="square">
            <a:spAutoFit/>
          </a:bodyPr>
          <a:lstStyle/>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Simple system</a:t>
            </a:r>
            <a:r>
              <a:rPr kumimoji="0" lang="en-US" altLang="en-US" sz="24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Low cost</a:t>
            </a:r>
            <a:r>
              <a:rPr kumimoji="0" lang="en-US" altLang="en-US" sz="24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Government regulation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Easy testing process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Identifies high pollution</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8467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CF1D-5CF4-0F70-7583-2EF2EE5E5C54}"/>
              </a:ext>
            </a:extLst>
          </p:cNvPr>
          <p:cNvSpPr>
            <a:spLocks noGrp="1"/>
          </p:cNvSpPr>
          <p:nvPr>
            <p:ph type="title"/>
          </p:nvPr>
        </p:nvSpPr>
        <p:spPr>
          <a:xfrm>
            <a:off x="3169920" y="282829"/>
            <a:ext cx="5324856" cy="1116203"/>
          </a:xfrm>
        </p:spPr>
        <p:txBody>
          <a:bodyPr>
            <a:normAutofit/>
          </a:bodyPr>
          <a:lstStyle/>
          <a:p>
            <a:pPr algn="ctr"/>
            <a:r>
              <a:rPr lang="en-IN" sz="2800" b="1" dirty="0">
                <a:latin typeface="Times New Roman" panose="02020603050405020304" pitchFamily="18" charset="0"/>
                <a:cs typeface="Times New Roman" panose="02020603050405020304" pitchFamily="18" charset="0"/>
              </a:rPr>
              <a:t>SOFTWARE REQUIREMENTS</a:t>
            </a:r>
          </a:p>
        </p:txBody>
      </p:sp>
      <p:sp>
        <p:nvSpPr>
          <p:cNvPr id="5" name="TextBox 4">
            <a:extLst>
              <a:ext uri="{FF2B5EF4-FFF2-40B4-BE49-F238E27FC236}">
                <a16:creationId xmlns:a16="http://schemas.microsoft.com/office/drawing/2014/main" id="{1695D2A0-B86E-2935-0307-9B609412B74E}"/>
              </a:ext>
            </a:extLst>
          </p:cNvPr>
          <p:cNvSpPr txBox="1"/>
          <p:nvPr/>
        </p:nvSpPr>
        <p:spPr>
          <a:xfrm>
            <a:off x="3800856" y="1625382"/>
            <a:ext cx="6094476" cy="28050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Arduino IDE</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Embedded C Programming Language</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implementation</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Serial Monitor (Arduino IDE Tool)</a:t>
            </a:r>
          </a:p>
          <a:p>
            <a:pPr marL="342900" indent="-342900">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Libraries for Sensors and LCD</a:t>
            </a:r>
          </a:p>
        </p:txBody>
      </p:sp>
    </p:spTree>
    <p:extLst>
      <p:ext uri="{BB962C8B-B14F-4D97-AF65-F5344CB8AC3E}">
        <p14:creationId xmlns:p14="http://schemas.microsoft.com/office/powerpoint/2010/main" val="33510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C03784-B42B-5F6C-A28A-22D0704906DE}"/>
              </a:ext>
            </a:extLst>
          </p:cNvPr>
          <p:cNvSpPr txBox="1"/>
          <p:nvPr/>
        </p:nvSpPr>
        <p:spPr>
          <a:xfrm>
            <a:off x="1352327" y="539645"/>
            <a:ext cx="9487345" cy="661207"/>
          </a:xfrm>
          <a:prstGeom prst="rect">
            <a:avLst/>
          </a:prstGeom>
          <a:noFill/>
        </p:spPr>
        <p:txBody>
          <a:bodyPr wrap="square" rtlCol="0">
            <a:spAutoFit/>
          </a:bodyPr>
          <a:lstStyle/>
          <a:p>
            <a:pPr algn="ctr">
              <a:lnSpc>
                <a:spcPct val="150000"/>
              </a:lnSpc>
            </a:pPr>
            <a:r>
              <a:rPr lang="en-US" sz="2800" b="1" dirty="0">
                <a:latin typeface="Times New Roman" panose="02020603050405020304" pitchFamily="18" charset="0"/>
                <a:cs typeface="Times New Roman" panose="02020603050405020304" pitchFamily="18" charset="0"/>
              </a:rPr>
              <a:t>HARDWARE COMPONENTS</a:t>
            </a:r>
          </a:p>
        </p:txBody>
      </p:sp>
      <p:sp>
        <p:nvSpPr>
          <p:cNvPr id="7" name="Rectangle 1">
            <a:extLst>
              <a:ext uri="{FF2B5EF4-FFF2-40B4-BE49-F238E27FC236}">
                <a16:creationId xmlns:a16="http://schemas.microsoft.com/office/drawing/2014/main" id="{A3CACE9D-92A6-7173-B7B5-29A374F37367}"/>
              </a:ext>
            </a:extLst>
          </p:cNvPr>
          <p:cNvSpPr>
            <a:spLocks noChangeArrowheads="1"/>
          </p:cNvSpPr>
          <p:nvPr/>
        </p:nvSpPr>
        <p:spPr bwMode="auto">
          <a:xfrm>
            <a:off x="3889049" y="1649451"/>
            <a:ext cx="4207262"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Sensor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(Uno / ESP32)</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DHT11 / DHT22 Sensor</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9V Battery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lang="en-US" altLang="en-US" sz="2400" b="1" dirty="0">
                <a:latin typeface="Times New Roman" panose="02020603050405020304" pitchFamily="18" charset="0"/>
                <a:cs typeface="Times New Roman" panose="02020603050405020304" pitchFamily="18" charset="0"/>
              </a:rPr>
              <a:t>Buzzer</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Bridge Rectifier (DB107)</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 Circuit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9924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E1CCD7-91FC-34CB-0BB9-C0D4A44677F6}"/>
              </a:ext>
            </a:extLst>
          </p:cNvPr>
          <p:cNvSpPr txBox="1"/>
          <p:nvPr/>
        </p:nvSpPr>
        <p:spPr>
          <a:xfrm>
            <a:off x="2782234" y="926986"/>
            <a:ext cx="5820697"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NOVELITY OF THE PROJECT</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FC64FF4C-66A4-FBD5-CA49-C3A1B59CDEF2}"/>
              </a:ext>
            </a:extLst>
          </p:cNvPr>
          <p:cNvSpPr txBox="1"/>
          <p:nvPr/>
        </p:nvSpPr>
        <p:spPr>
          <a:xfrm>
            <a:off x="3193542" y="1671102"/>
            <a:ext cx="6094476"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Real-Time Emission Monitoring</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Automatic Control Mechanism</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Embedded System Integration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Threshold-Based Intelligent Detection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Driver Alert System</a:t>
            </a:r>
          </a:p>
        </p:txBody>
      </p:sp>
    </p:spTree>
    <p:extLst>
      <p:ext uri="{BB962C8B-B14F-4D97-AF65-F5344CB8AC3E}">
        <p14:creationId xmlns:p14="http://schemas.microsoft.com/office/powerpoint/2010/main" val="1672091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195608-DE7D-52E1-3875-01644AFA1817}"/>
              </a:ext>
            </a:extLst>
          </p:cNvPr>
          <p:cNvSpPr txBox="1"/>
          <p:nvPr/>
        </p:nvSpPr>
        <p:spPr>
          <a:xfrm>
            <a:off x="4076553" y="405875"/>
            <a:ext cx="337246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ARCHITECTURE</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3B6AFA0-9014-B20E-43EE-AC62FF3EAC8B}"/>
              </a:ext>
            </a:extLst>
          </p:cNvPr>
          <p:cNvPicPr>
            <a:picLocks noChangeAspect="1"/>
          </p:cNvPicPr>
          <p:nvPr/>
        </p:nvPicPr>
        <p:blipFill>
          <a:blip r:embed="rId2"/>
          <a:stretch>
            <a:fillRect/>
          </a:stretch>
        </p:blipFill>
        <p:spPr>
          <a:xfrm>
            <a:off x="1694467" y="1146573"/>
            <a:ext cx="8136636" cy="5424424"/>
          </a:xfrm>
          <a:prstGeom prst="rect">
            <a:avLst/>
          </a:prstGeom>
        </p:spPr>
      </p:pic>
    </p:spTree>
    <p:extLst>
      <p:ext uri="{BB962C8B-B14F-4D97-AF65-F5344CB8AC3E}">
        <p14:creationId xmlns:p14="http://schemas.microsoft.com/office/powerpoint/2010/main" val="3189701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BCBFBBA-0C01-36B9-F567-05D8F81BF0D0}"/>
              </a:ext>
            </a:extLst>
          </p:cNvPr>
          <p:cNvSpPr txBox="1"/>
          <p:nvPr/>
        </p:nvSpPr>
        <p:spPr>
          <a:xfrm>
            <a:off x="2306230" y="725995"/>
            <a:ext cx="6535712"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MODULES</a:t>
            </a:r>
            <a:endParaRPr lang="en-IN" sz="2800" b="1"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C4CE50F5-F68C-D486-D81F-56F0888AFF8B}"/>
              </a:ext>
            </a:extLst>
          </p:cNvPr>
          <p:cNvSpPr>
            <a:spLocks noChangeArrowheads="1"/>
          </p:cNvSpPr>
          <p:nvPr/>
        </p:nvSpPr>
        <p:spPr bwMode="auto">
          <a:xfrm rot="10800000" flipV="1">
            <a:off x="3647768" y="1635202"/>
            <a:ext cx="5466735" cy="2802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Gas Detection Module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Data Processing Module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Threshold Checking Module</a:t>
            </a:r>
            <a:r>
              <a:rPr kumimoji="0" lang="en-US" altLang="en-US" sz="24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Alert Module</a:t>
            </a:r>
            <a:r>
              <a:rPr kumimoji="0" lang="en-US" altLang="en-US" sz="2400" b="0"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rPr>
              <a:t>Communication Module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7144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3DE475-322B-B0A8-A733-303F5C1B6C4F}"/>
              </a:ext>
            </a:extLst>
          </p:cNvPr>
          <p:cNvSpPr txBox="1"/>
          <p:nvPr/>
        </p:nvSpPr>
        <p:spPr>
          <a:xfrm>
            <a:off x="3335311" y="637970"/>
            <a:ext cx="5216577"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UML-USE CASE DAIGRAM</a:t>
            </a:r>
            <a:endParaRPr lang="en-IN" sz="2800" b="1" dirty="0">
              <a:latin typeface="Times New Roman" panose="02020603050405020304" pitchFamily="18" charset="0"/>
              <a:cs typeface="Times New Roman" panose="02020603050405020304" pitchFamily="18" charset="0"/>
            </a:endParaRPr>
          </a:p>
        </p:txBody>
      </p:sp>
      <p:sp>
        <p:nvSpPr>
          <p:cNvPr id="6" name="AutoShape 2" descr="Block diagram of design and implementation of air pollution detection sensors.">
            <a:extLst>
              <a:ext uri="{FF2B5EF4-FFF2-40B4-BE49-F238E27FC236}">
                <a16:creationId xmlns:a16="http://schemas.microsoft.com/office/drawing/2014/main" id="{ED967D07-CF3B-4295-E169-8C4E9B90DA5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 name="Picture 1">
            <a:extLst>
              <a:ext uri="{FF2B5EF4-FFF2-40B4-BE49-F238E27FC236}">
                <a16:creationId xmlns:a16="http://schemas.microsoft.com/office/drawing/2014/main" id="{A974599D-7425-61D7-487C-C67E82F1C183}"/>
              </a:ext>
            </a:extLst>
          </p:cNvPr>
          <p:cNvPicPr>
            <a:picLocks noChangeAspect="1"/>
          </p:cNvPicPr>
          <p:nvPr/>
        </p:nvPicPr>
        <p:blipFill>
          <a:blip r:embed="rId2"/>
          <a:srcRect l="1720" t="11026" r="50000" b="56437"/>
          <a:stretch>
            <a:fillRect/>
          </a:stretch>
        </p:blipFill>
        <p:spPr>
          <a:xfrm>
            <a:off x="4367940" y="1506194"/>
            <a:ext cx="4795724" cy="4914039"/>
          </a:xfrm>
          <a:prstGeom prst="rect">
            <a:avLst/>
          </a:prstGeom>
        </p:spPr>
      </p:pic>
    </p:spTree>
    <p:extLst>
      <p:ext uri="{BB962C8B-B14F-4D97-AF65-F5344CB8AC3E}">
        <p14:creationId xmlns:p14="http://schemas.microsoft.com/office/powerpoint/2010/main" val="193256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046E74-49D2-D881-7BC8-BB6D92CF5AD2}"/>
              </a:ext>
            </a:extLst>
          </p:cNvPr>
          <p:cNvSpPr txBox="1"/>
          <p:nvPr/>
        </p:nvSpPr>
        <p:spPr>
          <a:xfrm>
            <a:off x="3408691" y="493057"/>
            <a:ext cx="6023548" cy="523220"/>
          </a:xfrm>
          <a:prstGeom prst="rect">
            <a:avLst/>
          </a:prstGeom>
          <a:noFill/>
        </p:spPr>
        <p:txBody>
          <a:bodyPr wrap="square" rtlCol="0">
            <a:spAutoFit/>
          </a:bodyPr>
          <a:lstStyle/>
          <a:p>
            <a:pPr algn="ctr"/>
            <a:r>
              <a:rPr lang="en-IN" sz="2800" b="1" dirty="0">
                <a:latin typeface="Times New Roman" panose="02020603050405020304" pitchFamily="18" charset="0"/>
                <a:cs typeface="Times New Roman" panose="02020603050405020304" pitchFamily="18" charset="0"/>
              </a:rPr>
              <a:t>UML –ACTIVITY DIAGRAM</a:t>
            </a:r>
            <a:endParaRPr lang="en-IN"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F22C5F0-866E-1C74-74B8-CB184F5752B7}"/>
              </a:ext>
            </a:extLst>
          </p:cNvPr>
          <p:cNvPicPr>
            <a:picLocks noChangeAspect="1"/>
          </p:cNvPicPr>
          <p:nvPr/>
        </p:nvPicPr>
        <p:blipFill>
          <a:blip r:embed="rId2"/>
          <a:srcRect l="50000" t="43011" r="1183" b="22007"/>
          <a:stretch>
            <a:fillRect/>
          </a:stretch>
        </p:blipFill>
        <p:spPr>
          <a:xfrm>
            <a:off x="4355690" y="1356851"/>
            <a:ext cx="4532671" cy="4872121"/>
          </a:xfrm>
          <a:prstGeom prst="rect">
            <a:avLst/>
          </a:prstGeom>
        </p:spPr>
      </p:pic>
    </p:spTree>
    <p:extLst>
      <p:ext uri="{BB962C8B-B14F-4D97-AF65-F5344CB8AC3E}">
        <p14:creationId xmlns:p14="http://schemas.microsoft.com/office/powerpoint/2010/main" val="985008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DB49A6-6CF4-45ED-B2EC-B539410A44E8}"/>
              </a:ext>
            </a:extLst>
          </p:cNvPr>
          <p:cNvSpPr txBox="1"/>
          <p:nvPr/>
        </p:nvSpPr>
        <p:spPr>
          <a:xfrm>
            <a:off x="3344218" y="539719"/>
            <a:ext cx="6093500"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UML – CLASS DAIGRAM</a:t>
            </a:r>
          </a:p>
        </p:txBody>
      </p:sp>
      <p:pic>
        <p:nvPicPr>
          <p:cNvPr id="2" name="Picture 1">
            <a:extLst>
              <a:ext uri="{FF2B5EF4-FFF2-40B4-BE49-F238E27FC236}">
                <a16:creationId xmlns:a16="http://schemas.microsoft.com/office/drawing/2014/main" id="{AF76A2E5-EA64-93AE-01A1-4BE1398C38FD}"/>
              </a:ext>
            </a:extLst>
          </p:cNvPr>
          <p:cNvPicPr>
            <a:picLocks noChangeAspect="1"/>
          </p:cNvPicPr>
          <p:nvPr/>
        </p:nvPicPr>
        <p:blipFill>
          <a:blip r:embed="rId2"/>
          <a:srcRect l="50000" t="11515" r="1398" b="56453"/>
          <a:stretch>
            <a:fillRect/>
          </a:stretch>
        </p:blipFill>
        <p:spPr>
          <a:xfrm>
            <a:off x="4757272" y="1620213"/>
            <a:ext cx="4143137" cy="4436458"/>
          </a:xfrm>
          <a:prstGeom prst="rect">
            <a:avLst/>
          </a:prstGeom>
        </p:spPr>
      </p:pic>
    </p:spTree>
    <p:extLst>
      <p:ext uri="{BB962C8B-B14F-4D97-AF65-F5344CB8AC3E}">
        <p14:creationId xmlns:p14="http://schemas.microsoft.com/office/powerpoint/2010/main" val="4116161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744DD9A-7DDF-637F-7727-7E0215D9EF34}"/>
              </a:ext>
            </a:extLst>
          </p:cNvPr>
          <p:cNvSpPr txBox="1"/>
          <p:nvPr/>
        </p:nvSpPr>
        <p:spPr>
          <a:xfrm>
            <a:off x="3389753" y="436942"/>
            <a:ext cx="617594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UML – SEQUENCE DIAGRAM</a:t>
            </a:r>
            <a:endParaRPr lang="en-IN" sz="2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401D80E-3F16-E640-2161-C6DA1A0A2A7D}"/>
              </a:ext>
            </a:extLst>
          </p:cNvPr>
          <p:cNvPicPr>
            <a:picLocks noChangeAspect="1"/>
          </p:cNvPicPr>
          <p:nvPr/>
        </p:nvPicPr>
        <p:blipFill>
          <a:blip r:embed="rId2"/>
          <a:srcRect l="1183" t="43267" r="50000" b="22002"/>
          <a:stretch>
            <a:fillRect/>
          </a:stretch>
        </p:blipFill>
        <p:spPr>
          <a:xfrm>
            <a:off x="4535413" y="1514168"/>
            <a:ext cx="4312531" cy="4483509"/>
          </a:xfrm>
          <a:prstGeom prst="rect">
            <a:avLst/>
          </a:prstGeom>
        </p:spPr>
      </p:pic>
    </p:spTree>
    <p:extLst>
      <p:ext uri="{BB962C8B-B14F-4D97-AF65-F5344CB8AC3E}">
        <p14:creationId xmlns:p14="http://schemas.microsoft.com/office/powerpoint/2010/main" val="3316236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4597CB-9725-6729-B11C-07E1B31F4842}"/>
              </a:ext>
            </a:extLst>
          </p:cNvPr>
          <p:cNvSpPr txBox="1"/>
          <p:nvPr/>
        </p:nvSpPr>
        <p:spPr>
          <a:xfrm>
            <a:off x="3566160" y="347472"/>
            <a:ext cx="4398264"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RESULT</a:t>
            </a:r>
          </a:p>
        </p:txBody>
      </p:sp>
      <p:pic>
        <p:nvPicPr>
          <p:cNvPr id="3" name="Picture 2">
            <a:extLst>
              <a:ext uri="{FF2B5EF4-FFF2-40B4-BE49-F238E27FC236}">
                <a16:creationId xmlns:a16="http://schemas.microsoft.com/office/drawing/2014/main" id="{3B5F2161-AEFA-3DAD-1BBF-874FD978DB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356851"/>
            <a:ext cx="9906000" cy="5377323"/>
          </a:xfrm>
          <a:prstGeom prst="rect">
            <a:avLst/>
          </a:prstGeom>
        </p:spPr>
      </p:pic>
    </p:spTree>
    <p:extLst>
      <p:ext uri="{BB962C8B-B14F-4D97-AF65-F5344CB8AC3E}">
        <p14:creationId xmlns:p14="http://schemas.microsoft.com/office/powerpoint/2010/main" val="2477337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619251-FE4A-1045-295C-C138ABAEB602}"/>
              </a:ext>
            </a:extLst>
          </p:cNvPr>
          <p:cNvSpPr txBox="1"/>
          <p:nvPr/>
        </p:nvSpPr>
        <p:spPr>
          <a:xfrm>
            <a:off x="2758190" y="607820"/>
            <a:ext cx="7090348"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3CA3C9B-BAD1-23B6-BF12-9717E93DBCF8}"/>
              </a:ext>
            </a:extLst>
          </p:cNvPr>
          <p:cNvSpPr txBox="1"/>
          <p:nvPr/>
        </p:nvSpPr>
        <p:spPr>
          <a:xfrm>
            <a:off x="798226" y="1585131"/>
            <a:ext cx="10369446" cy="3359061"/>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Automated Control System for Air Pollution Detection in Vehicles helps monitor vehicle emissions in real time. It uses gas sensors and a microcontroller to detect harmful gases from vehicle exhaust. When the pollution level exceeds the allowed limit, the system sends alerts and stores the data for monitoring. This system helps reduce air pollution, improves environmental safety, and supports better pollution control.</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757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7D291AF-2ABC-7E44-A5F2-4337FF8D46AF}"/>
              </a:ext>
            </a:extLst>
          </p:cNvPr>
          <p:cNvSpPr txBox="1"/>
          <p:nvPr/>
        </p:nvSpPr>
        <p:spPr>
          <a:xfrm>
            <a:off x="2596896" y="657350"/>
            <a:ext cx="6446520"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FUTURE ENHACEMENT</a:t>
            </a:r>
          </a:p>
        </p:txBody>
      </p:sp>
      <p:sp>
        <p:nvSpPr>
          <p:cNvPr id="6" name="TextBox 5">
            <a:extLst>
              <a:ext uri="{FF2B5EF4-FFF2-40B4-BE49-F238E27FC236}">
                <a16:creationId xmlns:a16="http://schemas.microsoft.com/office/drawing/2014/main" id="{64E1554E-56C6-3E71-AB85-F977D199F9B5}"/>
              </a:ext>
            </a:extLst>
          </p:cNvPr>
          <p:cNvSpPr txBox="1"/>
          <p:nvPr/>
        </p:nvSpPr>
        <p:spPr>
          <a:xfrm>
            <a:off x="3440430" y="1501616"/>
            <a:ext cx="6094476" cy="589072"/>
          </a:xfrm>
          <a:prstGeom prst="rect">
            <a:avLst/>
          </a:prstGeom>
          <a:noFill/>
        </p:spPr>
        <p:txBody>
          <a:bodyPr wrap="square">
            <a:spAutoFit/>
          </a:bodyPr>
          <a:lstStyle/>
          <a:p>
            <a:pPr marL="342900" indent="-342900" algn="just">
              <a:lnSpc>
                <a:spcPct val="150000"/>
              </a:lnSpc>
              <a:buFont typeface="Arial" panose="020B0604020202020204" pitchFamily="34" charset="0"/>
              <a:buChar char="•"/>
            </a:pPr>
            <a:endParaRPr lang="en-IN" sz="2400" b="1" dirty="0"/>
          </a:p>
        </p:txBody>
      </p:sp>
      <p:sp>
        <p:nvSpPr>
          <p:cNvPr id="11" name="TextBox 10">
            <a:extLst>
              <a:ext uri="{FF2B5EF4-FFF2-40B4-BE49-F238E27FC236}">
                <a16:creationId xmlns:a16="http://schemas.microsoft.com/office/drawing/2014/main" id="{A8CE93BE-3A83-E808-6DC4-A612C5464791}"/>
              </a:ext>
            </a:extLst>
          </p:cNvPr>
          <p:cNvSpPr txBox="1"/>
          <p:nvPr/>
        </p:nvSpPr>
        <p:spPr>
          <a:xfrm>
            <a:off x="3440430" y="1620488"/>
            <a:ext cx="7742682" cy="2805063"/>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IoT-Based Monitoring using ESP Module</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Automatic Fan/Exhaust Control System</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Multi-Gas Sensor Integration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LCD Display Enhancement for Real-Time Data</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Alert System using Buzzer and LED</a:t>
            </a:r>
          </a:p>
        </p:txBody>
      </p:sp>
    </p:spTree>
    <p:extLst>
      <p:ext uri="{BB962C8B-B14F-4D97-AF65-F5344CB8AC3E}">
        <p14:creationId xmlns:p14="http://schemas.microsoft.com/office/powerpoint/2010/main" val="2823934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7FBC7D9-1142-A396-9186-BDF9828CFA88}"/>
              </a:ext>
            </a:extLst>
          </p:cNvPr>
          <p:cNvSpPr txBox="1"/>
          <p:nvPr/>
        </p:nvSpPr>
        <p:spPr>
          <a:xfrm>
            <a:off x="2167128" y="355085"/>
            <a:ext cx="7114032" cy="523220"/>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REFERENCE</a:t>
            </a:r>
          </a:p>
        </p:txBody>
      </p:sp>
      <p:sp>
        <p:nvSpPr>
          <p:cNvPr id="3" name="TextBox 2">
            <a:extLst>
              <a:ext uri="{FF2B5EF4-FFF2-40B4-BE49-F238E27FC236}">
                <a16:creationId xmlns:a16="http://schemas.microsoft.com/office/drawing/2014/main" id="{A9E27830-8047-F5DE-53BC-C6C1127C684F}"/>
              </a:ext>
            </a:extLst>
          </p:cNvPr>
          <p:cNvSpPr txBox="1"/>
          <p:nvPr/>
        </p:nvSpPr>
        <p:spPr>
          <a:xfrm>
            <a:off x="707922" y="1446299"/>
            <a:ext cx="10638503" cy="4524315"/>
          </a:xfrm>
          <a:prstGeom prst="rect">
            <a:avLst/>
          </a:prstGeom>
          <a:noFill/>
        </p:spPr>
        <p:txBody>
          <a:bodyPr wrap="square">
            <a:spAutoFit/>
          </a:bodyPr>
          <a:lstStyle/>
          <a:p>
            <a:pPr marL="342900" indent="-342900">
              <a:buFont typeface="+mj-lt"/>
              <a:buAutoNum type="arabicPeriod"/>
            </a:pPr>
            <a:r>
              <a:rPr lang="en-IN" sz="2400" dirty="0" err="1">
                <a:latin typeface="Times New Roman" panose="02020603050405020304" pitchFamily="18" charset="0"/>
                <a:cs typeface="Times New Roman" panose="02020603050405020304" pitchFamily="18" charset="0"/>
              </a:rPr>
              <a:t>Athare</a:t>
            </a:r>
            <a:r>
              <a:rPr lang="en-IN" sz="2400" dirty="0">
                <a:latin typeface="Times New Roman" panose="02020603050405020304" pitchFamily="18" charset="0"/>
                <a:cs typeface="Times New Roman" panose="02020603050405020304" pitchFamily="18" charset="0"/>
              </a:rPr>
              <a:t>, N. &amp; </a:t>
            </a:r>
            <a:r>
              <a:rPr lang="en-IN" sz="2400" dirty="0" err="1">
                <a:latin typeface="Times New Roman" panose="02020603050405020304" pitchFamily="18" charset="0"/>
                <a:cs typeface="Times New Roman" panose="02020603050405020304" pitchFamily="18" charset="0"/>
              </a:rPr>
              <a:t>Badadapure</a:t>
            </a:r>
            <a:r>
              <a:rPr lang="en-IN" sz="2400" dirty="0">
                <a:latin typeface="Times New Roman" panose="02020603050405020304" pitchFamily="18" charset="0"/>
                <a:cs typeface="Times New Roman" panose="02020603050405020304" pitchFamily="18" charset="0"/>
              </a:rPr>
              <a:t>, P. R. Automated Control System for Air Pollution Detection in Vehicles. International Journal of Electrical and Electronics Research (2015). </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Tiwari, D., Shekhar, S., Joshi, A., &amp; Deep, A. Automated System for Air Pollution Detection and Control in Vehicles. International Journal of Electrical and Electronics Research (2015). </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Kadir, S., &amp; Amalia, Z. IoT-based Exhaust Gas Emission Detection System for Motorized Vehicles. International Journal of Frontier Technology and Engineering (2024). DOI:10.33795/ijfte.v3i1.5675. </a:t>
            </a: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Ali I. K., Anjali N. R., Anusha V. S., Bhagyashree V. G., &amp; Spoorthi T. S. IoT Based Vehicle Emission Monitoring System. IJIREEICE, DOI:10.17148/IJIREEICE.2025.13806.</a:t>
            </a:r>
          </a:p>
        </p:txBody>
      </p:sp>
    </p:spTree>
    <p:extLst>
      <p:ext uri="{BB962C8B-B14F-4D97-AF65-F5344CB8AC3E}">
        <p14:creationId xmlns:p14="http://schemas.microsoft.com/office/powerpoint/2010/main" val="2523832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1EB904-1E58-10F7-D427-41F3A65FC1D3}"/>
              </a:ext>
            </a:extLst>
          </p:cNvPr>
          <p:cNvSpPr txBox="1"/>
          <p:nvPr/>
        </p:nvSpPr>
        <p:spPr>
          <a:xfrm>
            <a:off x="5010912" y="616358"/>
            <a:ext cx="2523744"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GIT HUB</a:t>
            </a:r>
          </a:p>
        </p:txBody>
      </p:sp>
      <p:sp>
        <p:nvSpPr>
          <p:cNvPr id="8" name="TextBox 7">
            <a:extLst>
              <a:ext uri="{FF2B5EF4-FFF2-40B4-BE49-F238E27FC236}">
                <a16:creationId xmlns:a16="http://schemas.microsoft.com/office/drawing/2014/main" id="{DADA843C-0781-C6CF-B178-936369D315DE}"/>
              </a:ext>
            </a:extLst>
          </p:cNvPr>
          <p:cNvSpPr txBox="1"/>
          <p:nvPr/>
        </p:nvSpPr>
        <p:spPr>
          <a:xfrm>
            <a:off x="610933" y="2199239"/>
            <a:ext cx="10970134" cy="830997"/>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https://github.com/Manojkumar128/Automated-control-system-for-air-pollution-detection-in-vehicles.git</a:t>
            </a:r>
          </a:p>
        </p:txBody>
      </p:sp>
    </p:spTree>
    <p:extLst>
      <p:ext uri="{BB962C8B-B14F-4D97-AF65-F5344CB8AC3E}">
        <p14:creationId xmlns:p14="http://schemas.microsoft.com/office/powerpoint/2010/main" val="402629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TotalTime>
  <Words>870</Words>
  <Application>Microsoft Office PowerPoint</Application>
  <PresentationFormat>Widescreen</PresentationFormat>
  <Paragraphs>107</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SOFTWARE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Katipally Aishwarya</dc:creator>
  <cp:lastModifiedBy>manoj kumar ainala</cp:lastModifiedBy>
  <cp:revision>7</cp:revision>
  <dcterms:created xsi:type="dcterms:W3CDTF">2026-03-15T06:40:23Z</dcterms:created>
  <dcterms:modified xsi:type="dcterms:W3CDTF">2026-03-28T07:28:17Z</dcterms:modified>
</cp:coreProperties>
</file>